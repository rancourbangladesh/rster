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RosterBhai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Multi-Tenant Roster Management System</a:t>
            </a:r>
          </a:p>
          <a:p>
            <a:r>
              <a:t>Version 2.0.0</a:t>
            </a:r>
          </a:p>
          <a:p>
            <a:r>
              <a:t>November 08,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Modern SaaS application for roster and shift management</a:t>
            </a:r>
          </a:p>
          <a:p>
            <a:pPr>
              <a:defRPr sz="1800"/>
            </a:pPr>
            <a:r>
              <a:t>Built with Next.js 14 and TypeScript</a:t>
            </a:r>
          </a:p>
          <a:p>
            <a:pPr>
              <a:defRPr sz="1800"/>
            </a:pPr>
            <a:r>
              <a:t>Multi-tenant architecture with subdomain isolation</a:t>
            </a:r>
          </a:p>
          <a:p>
            <a:pPr>
              <a:defRPr sz="1800"/>
            </a:pPr>
            <a:r>
              <a:t>Comprehensive features for admins and employees</a:t>
            </a:r>
          </a:p>
          <a:p>
            <a:pPr>
              <a:defRPr sz="1800"/>
            </a:pPr>
            <a:r>
              <a:t>Google Sheets integration for easy data import</a:t>
            </a:r>
          </a:p>
          <a:p>
            <a:pPr>
              <a:defRPr sz="1800"/>
            </a:pPr>
            <a:r>
              <a:t>Real-time notifications and request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3-Tier Architecture Pattern</a:t>
            </a:r>
          </a:p>
          <a:p>
            <a:pPr>
              <a:defRPr sz="1800"/>
            </a:pPr>
            <a:r>
              <a:t>Presentation: Next.js App Router + React Components</a:t>
            </a:r>
          </a:p>
          <a:p>
            <a:pPr>
              <a:defRPr sz="1800"/>
            </a:pPr>
            <a:r>
              <a:t>Business Logic: Next.js API Routes (Serverless)</a:t>
            </a:r>
          </a:p>
          <a:p>
            <a:pPr>
              <a:defRPr sz="1800"/>
            </a:pPr>
            <a:r>
              <a:t>Data: File-based JSON storage with tenant isolation</a:t>
            </a:r>
          </a:p>
          <a:p>
            <a:pPr>
              <a:defRPr sz="1800"/>
            </a:pPr>
            <a:r>
              <a:t>Middleware-based routing and security</a:t>
            </a:r>
          </a:p>
          <a:p>
            <a:pPr>
              <a:defRPr sz="1800"/>
            </a:pPr>
            <a:r>
              <a:t>RESTful API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Multi-Tenant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Subdomain-based tenant identification</a:t>
            </a:r>
          </a:p>
          <a:p>
            <a:pPr>
              <a:defRPr sz="1800"/>
            </a:pPr>
            <a:r>
              <a:t>Main domain: rosterbhai.me (landing + developer portal)</a:t>
            </a:r>
          </a:p>
          <a:p>
            <a:pPr>
              <a:defRPr sz="1800"/>
            </a:pPr>
            <a:r>
              <a:t>Tenant subdomains: [slug].rosterbhai.me</a:t>
            </a:r>
          </a:p>
          <a:p>
            <a:pPr>
              <a:defRPr sz="1800"/>
            </a:pPr>
            <a:r>
              <a:t>Complete data isolation per tenant</a:t>
            </a:r>
          </a:p>
          <a:p>
            <a:pPr>
              <a:defRPr sz="1800"/>
            </a:pPr>
            <a:r>
              <a:t>Separate data directories for each tenant</a:t>
            </a:r>
          </a:p>
          <a:p>
            <a:pPr>
              <a:defRPr sz="1800"/>
            </a:pPr>
            <a:r>
              <a:t>Middleware enforces routing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Landing Page - Marketing and company registration</a:t>
            </a:r>
          </a:p>
          <a:p>
            <a:pPr>
              <a:defRPr sz="1800"/>
            </a:pPr>
            <a:r>
              <a:t>Developer Portal - Tenant approval and management</a:t>
            </a:r>
          </a:p>
          <a:p>
            <a:pPr>
              <a:defRPr sz="1800"/>
            </a:pPr>
            <a:r>
              <a:t>Admin Panel - Roster management with RBAC</a:t>
            </a:r>
          </a:p>
          <a:p>
            <a:pPr>
              <a:defRPr sz="1800"/>
            </a:pPr>
            <a:r>
              <a:t>Employee Portal - Self-service schedule viewing</a:t>
            </a:r>
          </a:p>
          <a:p>
            <a:pPr>
              <a:defRPr sz="1800"/>
            </a:pPr>
            <a:r>
              <a:t>CSV Import System - Bulk data import</a:t>
            </a:r>
          </a:p>
          <a:p>
            <a:pPr>
              <a:defRPr sz="1800"/>
            </a:pPr>
            <a:r>
              <a:t>Notification System - In-app and email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Developer: Approve tenants, manage subscriptions, CMS</a:t>
            </a:r>
          </a:p>
          <a:p>
            <a:pPr>
              <a:defRPr sz="1800"/>
            </a:pPr>
            <a:r>
              <a:t>Admin: Manage employees, modify rosters, approve requests</a:t>
            </a:r>
          </a:p>
          <a:p>
            <a:pPr>
              <a:defRPr sz="1800"/>
            </a:pPr>
            <a:r>
              <a:t>Employee: View schedules, submit change/swap requests</a:t>
            </a:r>
          </a:p>
          <a:p>
            <a:pPr>
              <a:defRPr sz="1800"/>
            </a:pPr>
            <a:r>
              <a:t>RBAC Support: Role-based permissions for admins</a:t>
            </a:r>
          </a:p>
          <a:p>
            <a:pPr>
              <a:defRPr sz="1800"/>
            </a:pPr>
            <a:r>
              <a:t>Session-based authentication for all roles</a:t>
            </a:r>
          </a:p>
          <a:p>
            <a:pPr>
              <a:defRPr sz="1800"/>
            </a:pPr>
            <a:r>
              <a:t>Secure cookie-based session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CSV &amp; Google Sheets roster import</a:t>
            </a:r>
          </a:p>
          <a:p>
            <a:pPr>
              <a:defRPr sz="1800"/>
            </a:pPr>
            <a:r>
              <a:t>Shift template management</a:t>
            </a:r>
          </a:p>
          <a:p>
            <a:pPr>
              <a:defRPr sz="1800"/>
            </a:pPr>
            <a:r>
              <a:t>Employee profile management with photos</a:t>
            </a:r>
          </a:p>
          <a:p>
            <a:pPr>
              <a:defRPr sz="1800"/>
            </a:pPr>
            <a:r>
              <a:t>Shift change and swap request workflow</a:t>
            </a:r>
          </a:p>
          <a:p>
            <a:pPr>
              <a:defRPr sz="1800"/>
            </a:pPr>
            <a:r>
              <a:t>Real-time notification system</a:t>
            </a:r>
          </a:p>
          <a:p>
            <a:pPr>
              <a:defRPr sz="1800"/>
            </a:pPr>
            <a:r>
              <a:t>Audit trail for all modifications</a:t>
            </a:r>
          </a:p>
          <a:p>
            <a:pPr>
              <a:defRPr sz="1800"/>
            </a:pPr>
            <a:r>
              <a:t>Team-based schedule organization</a:t>
            </a:r>
          </a:p>
          <a:p>
            <a:pPr>
              <a:defRPr sz="1800"/>
            </a:pPr>
            <a:r>
              <a:t>Mobile-responsive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/>
            </a:pPr>
            <a:r>
              <a:t>Use Case Diagram</a:t>
            </a:r>
          </a:p>
        </p:txBody>
      </p:sp>
      <p:pic>
        <p:nvPicPr>
          <p:cNvPr id="3" name="Picture 2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2798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/>
            </a:pPr>
            <a:r>
              <a:t>System Architecture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30352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/>
            </a:pPr>
            <a:r>
              <a:t>Context Data Flow Diagram</a:t>
            </a:r>
          </a:p>
        </p:txBody>
      </p:sp>
      <p:pic>
        <p:nvPicPr>
          <p:cNvPr id="3" name="Picture 2" descr="Context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21802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/>
            </a:pPr>
            <a:r>
              <a:t>Level 1 Data Flow Diagram - NO VERSION NUMBERS</a:t>
            </a:r>
          </a:p>
        </p:txBody>
      </p:sp>
      <p:pic>
        <p:nvPicPr>
          <p:cNvPr id="3" name="Picture 2" descr="Level1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80295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/>
            </a:pPr>
            <a:r>
              <a:t>Entity Relationship Diagram</a:t>
            </a:r>
          </a:p>
        </p:txBody>
      </p:sp>
      <p:pic>
        <p:nvPicPr>
          <p:cNvPr id="3" name="Picture 2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772400" cy="3857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HTTP-only cookies prevent XSS attacks</a:t>
            </a:r>
          </a:p>
          <a:p>
            <a:pPr>
              <a:defRPr sz="1800"/>
            </a:pPr>
            <a:r>
              <a:t>Subdomain-based tenant isolation</a:t>
            </a:r>
          </a:p>
          <a:p>
            <a:pPr>
              <a:defRPr sz="1800"/>
            </a:pPr>
            <a:r>
              <a:t>Session validation on every request</a:t>
            </a:r>
          </a:p>
          <a:p>
            <a:pPr>
              <a:defRPr sz="1800"/>
            </a:pPr>
            <a:r>
              <a:t>Input validation with Zod schemas</a:t>
            </a:r>
          </a:p>
          <a:p>
            <a:pPr>
              <a:defRPr sz="1800"/>
            </a:pPr>
            <a:r>
              <a:t>File upload restrictions and validation</a:t>
            </a:r>
          </a:p>
          <a:p>
            <a:pPr>
              <a:defRPr sz="1800"/>
            </a:pPr>
            <a:r>
              <a:t>Role-based access control (RBAC)</a:t>
            </a:r>
          </a:p>
          <a:p>
            <a:pPr>
              <a:defRPr sz="1800"/>
            </a:pPr>
            <a:r>
              <a:t>Audit logging for accountability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Frontend: Next.js 14, React 18, TypeScript 5</a:t>
            </a:r>
          </a:p>
          <a:p>
            <a:pPr>
              <a:defRPr sz="1800"/>
            </a:pPr>
            <a:r>
              <a:t>Styling: CSS Modules, Modern UI</a:t>
            </a:r>
          </a:p>
          <a:p>
            <a:pPr>
              <a:defRPr sz="1800"/>
            </a:pPr>
            <a:r>
              <a:t>Icons: Lucide React</a:t>
            </a:r>
          </a:p>
          <a:p>
            <a:pPr>
              <a:defRPr sz="1800"/>
            </a:pPr>
            <a:r>
              <a:t>File Processing: Formidable, csv-parse</a:t>
            </a:r>
          </a:p>
          <a:p>
            <a:pPr>
              <a:defRPr sz="1800"/>
            </a:pPr>
            <a:r>
              <a:t>Deployment: Vercel (recommended)</a:t>
            </a:r>
          </a:p>
          <a:p>
            <a:pPr>
              <a:defRPr sz="1800"/>
            </a:pPr>
            <a:r>
              <a:t>Storage: JSON files (migrate to DB for scale)</a:t>
            </a:r>
          </a:p>
          <a:p>
            <a:pPr>
              <a:defRPr sz="1800"/>
            </a:pPr>
            <a:r>
              <a:t>Session: Cookie-based with HTTP-only flag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Native mobile apps (iOS/Android)</a:t>
            </a:r>
          </a:p>
          <a:p>
            <a:pPr>
              <a:defRPr sz="1800"/>
            </a:pPr>
            <a:r>
              <a:t>Home screen widget for shifts</a:t>
            </a:r>
          </a:p>
          <a:p>
            <a:pPr>
              <a:defRPr sz="1800"/>
            </a:pPr>
            <a:r>
              <a:t>Push notifications</a:t>
            </a:r>
          </a:p>
          <a:p>
            <a:pPr>
              <a:defRPr sz="1800"/>
            </a:pPr>
            <a:r>
              <a:t>Advanced analytics and reports</a:t>
            </a:r>
          </a:p>
          <a:p>
            <a:pPr>
              <a:defRPr sz="1800"/>
            </a:pPr>
            <a:r>
              <a:t>SSO (Single Sign-On) integration</a:t>
            </a:r>
          </a:p>
          <a:p>
            <a:pPr>
              <a:defRPr sz="1800"/>
            </a:pPr>
            <a:r>
              <a:t>Webhook support for third-party integration</a:t>
            </a:r>
          </a:p>
          <a:p>
            <a:pPr>
              <a:defRPr sz="1800"/>
            </a:pPr>
            <a:r>
              <a:t>Auto-approval rules for requests</a:t>
            </a:r>
          </a:p>
          <a:p>
            <a:pPr>
              <a:defRPr sz="1800"/>
            </a:pPr>
            <a:r>
              <a:t>Smart scheduling algorithms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Robust, scalable foundation for roster management</a:t>
            </a:r>
          </a:p>
          <a:p>
            <a:pPr>
              <a:defRPr sz="1800"/>
            </a:pPr>
            <a:r>
              <a:t>Clear separation of concerns</a:t>
            </a:r>
          </a:p>
          <a:p>
            <a:pPr>
              <a:defRPr sz="1800"/>
            </a:pPr>
            <a:r>
              <a:t>Multi-tenancy with complete isolation</a:t>
            </a:r>
          </a:p>
          <a:p>
            <a:pPr>
              <a:defRPr sz="1800"/>
            </a:pPr>
            <a:r>
              <a:t>Comprehensive features for all user roles</a:t>
            </a:r>
          </a:p>
          <a:p>
            <a:pPr>
              <a:defRPr sz="1800"/>
            </a:pPr>
            <a:r>
              <a:t>Ready for production deployment</a:t>
            </a:r>
          </a:p>
          <a:p>
            <a:pPr>
              <a:defRPr sz="1800"/>
            </a:pPr>
            <a:r>
              <a:t>Clear upgrade path for scale</a:t>
            </a:r>
          </a:p>
          <a:p>
            <a:pPr>
              <a:defRPr sz="1800"/>
            </a:pPr>
            <a:r>
              <a:t>Modern technology stack</a:t>
            </a:r>
          </a:p>
          <a:p>
            <a:pPr>
              <a:defRPr sz="1800"/>
            </a:pPr>
            <a:r>
              <a:t>Focus on security and data privacy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